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3" r:id="rId2"/>
    <p:sldId id="344" r:id="rId3"/>
    <p:sldId id="346" r:id="rId4"/>
    <p:sldId id="347" r:id="rId5"/>
    <p:sldId id="351" r:id="rId6"/>
    <p:sldId id="348" r:id="rId7"/>
    <p:sldId id="352" r:id="rId8"/>
    <p:sldId id="349" r:id="rId9"/>
    <p:sldId id="35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0CEC-55EC-0507-6079-236AA2B2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2B163-0884-6983-B20C-6D9D9C116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D243A-4FC0-4902-9A5E-DD50F33A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B8AE-E57D-AF1E-0A6C-DF28F0F1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82434-27D8-0C39-4057-D9B15B3A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81508-DE28-C07B-E796-0282EF7BA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1C22-747E-6888-3B14-18E5F47D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4ACC5-412D-360A-632C-5F738B9D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4401-4C02-3B26-9735-866FDBA1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41B21-A3DA-5377-F1FF-3B0519D7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9ED12-32BF-231B-5FB3-CC7AE91F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E48E8-9817-31BA-0A1B-C54D1FCEF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2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DCA4-2167-ED00-4F0D-268F256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B09E7-B952-E3EE-B85A-1AB0E1C07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6FFC-898B-DCAE-2B5E-3F3A1BA1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9CA11-17A7-46D6-5782-A3A5ADB9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CDDA6-1995-9F88-9AF4-47B2FB50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87DB3-9ECF-D274-5E6A-14810DE0B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7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5F18-58C4-91B0-3B7E-B630B616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76AE7-6D6F-6BD2-C342-DA5955F69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16B4B-94B8-A241-9896-0A0C3D6DB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BADE-DA0A-A9A5-D623-3F74F3DD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68705-7F72-C730-704F-0B120580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1F9C9-00EF-78C4-9A37-CE2C57B7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EC3488-2FA4-47C6-DC08-59D6281B0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8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BCDA-3395-7DD7-E59F-26F6C8AA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97BEA-807D-9AE1-F0C5-E4A7FFE35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3B7B6-49D5-7CDB-399F-018CAB06E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D45BA-6FAB-010F-AF39-E29EFC96E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6D03F-9877-C12D-DB37-FC4D907BC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AB7B2-11FF-05EB-9A7F-3CE6405A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AE7DD-CC9C-276A-385E-0CE176C2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ADA17-85F5-1C5C-7508-E4E464FD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8BEEE2-F9E1-C8EF-A70B-E63325982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1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7AA4-99ED-84D4-49A7-20ED6C52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1DA1F-6FA6-E8B5-929A-8E4D9D81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1FA7E-7048-ED18-FF34-FB4B1D99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FA8EC-BE9D-7652-2543-434D2568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05A11-F3E7-367A-2A00-2F8C796E4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6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1151A-0520-97D2-1724-6E390F55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92F59-091C-BE55-146B-2E08C8FD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CCB7-0143-3094-B94B-4E1A2B26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8DC03-CA8F-DCE1-3090-D03F330EA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2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74AB-6FDE-0422-AE37-388F34C4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BFBA-B2ED-7436-A0B4-A4732F762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ABB1D-BD05-F90E-4546-2803E0E0D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E9097-74C0-8493-71C9-BE4AFFFC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147C1-7289-39F0-D1A1-742879C2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1F0DE-D791-D899-DFDE-6237D042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DE128-6128-B6B1-0AEA-31AEDB8CE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F019-269C-5D49-F7C5-045D9B04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3FB6D-D153-C981-EEAA-7399679A4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BF6BB-BF59-B5CF-EC01-65B67824A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77824-E50B-7C6A-3B51-DD1A4917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B8CDF-9308-6F8E-DEED-CBB7EB6A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3B5A9-8406-7090-A1EB-1E86229E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8FC53-126F-7574-27FA-06275B3D4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2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0364-0184-4245-5216-89CF2CD8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D3A61-E72B-315F-72CA-6F05C4C02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06A47-A5C5-3403-89D2-0EB4E837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E765-0D4D-7017-755B-D6768ED1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82F5-D4EA-18AE-B48F-19718CFC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117C86-1EEF-6852-B477-DC4A8D749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199E4-D8D2-843F-2AAB-7B3A92666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3555E-1866-F878-2BFC-70F194B98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6EBC1-08AA-6392-1C27-F7FB3475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A7B2-6DA4-0E31-42F7-9AAA1562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92BC8-D5D4-5F09-477E-81A62CAF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4E310-C5BF-8FD1-11A9-7A80F528D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0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8A39D-0E60-950C-C67E-241EFC87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10A3C-28DD-FD0F-3FC7-3B21BC407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19700-01F8-2E71-BD78-55C6E8422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744EF-F98D-4D5A-A8E4-4EAFD7B30566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EDDB4-1788-0DD0-0DA2-0716CB492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F9737-5E73-5C9C-4BAB-DCB256CA8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1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>
            <a:extLst>
              <a:ext uri="{FF2B5EF4-FFF2-40B4-BE49-F238E27FC236}">
                <a16:creationId xmlns:a16="http://schemas.microsoft.com/office/drawing/2014/main" id="{67EDEFE9-66D1-FDFD-C52A-5D42180EE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219200"/>
            <a:ext cx="876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latin typeface="Aptos Black" panose="020B0004020202020204" pitchFamily="34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pic>
        <p:nvPicPr>
          <p:cNvPr id="4099" name="Picture 4">
            <a:extLst>
              <a:ext uri="{FF2B5EF4-FFF2-40B4-BE49-F238E27FC236}">
                <a16:creationId xmlns:a16="http://schemas.microsoft.com/office/drawing/2014/main" id="{26F27727-A2D4-E2F4-C690-D5C9F73A3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" y="0"/>
            <a:ext cx="1208563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1C761DA-C6E2-D1F9-816F-3EEB5E10FD96}"/>
              </a:ext>
            </a:extLst>
          </p:cNvPr>
          <p:cNvSpPr txBox="1">
            <a:spLocks/>
          </p:cNvSpPr>
          <p:nvPr/>
        </p:nvSpPr>
        <p:spPr>
          <a:xfrm>
            <a:off x="228600" y="1865313"/>
            <a:ext cx="11471275" cy="17399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4800" dirty="0">
                <a:solidFill>
                  <a:schemeClr val="tx1"/>
                </a:solidFill>
              </a:rPr>
              <a:t>MAJOR PROJECT PHASE-I - 22CSP69</a:t>
            </a:r>
            <a:endParaRPr lang="en-GB" sz="4800" kern="0" dirty="0">
              <a:solidFill>
                <a:schemeClr val="tx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>
              <a:defRPr/>
            </a:pPr>
            <a:r>
              <a:rPr lang="en-US" sz="2600" kern="0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"Multimodal Machine Learning for Early Diagnosis of Lifestyle Disorders."</a:t>
            </a:r>
            <a:endParaRPr lang="en-GB" sz="2600" kern="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01" name="TextBox 6">
            <a:extLst>
              <a:ext uri="{FF2B5EF4-FFF2-40B4-BE49-F238E27FC236}">
                <a16:creationId xmlns:a16="http://schemas.microsoft.com/office/drawing/2014/main" id="{A1946A95-F09F-9A82-F112-85115C176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029200"/>
            <a:ext cx="3294063" cy="1369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rgbClr val="4472C4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700" b="1" u="sng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Presentation By:</a:t>
            </a:r>
            <a:endParaRPr lang="en-GB" altLang="en-US" sz="1700" b="1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rgbClr val="4472C4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7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Tarun Praveen – 1NT23CS253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rgbClr val="4472C4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7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Roma Narayan – 1NT23CS197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rgbClr val="4472C4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7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Taran Kumaran – 1NT23CS252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A53FE-37BF-EE42-A37D-5EB31261A6FA}"/>
              </a:ext>
            </a:extLst>
          </p:cNvPr>
          <p:cNvSpPr txBox="1"/>
          <p:nvPr/>
        </p:nvSpPr>
        <p:spPr>
          <a:xfrm>
            <a:off x="7543800" y="5041900"/>
            <a:ext cx="380607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defRPr/>
            </a:pPr>
            <a:r>
              <a:rPr lang="en-GB" sz="1600" b="1" u="sng" dirty="0">
                <a:solidFill>
                  <a:srgbClr val="0000CC"/>
                </a:solidFill>
              </a:rPr>
              <a:t>Guided By:</a:t>
            </a:r>
          </a:p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defRPr/>
            </a:pPr>
            <a:r>
              <a:rPr lang="en-GB" sz="1600" b="1" dirty="0">
                <a:latin typeface="+mn-lt"/>
              </a:rPr>
              <a:t>Dr. </a:t>
            </a:r>
            <a:r>
              <a:rPr lang="en-GB" sz="1600" b="1" dirty="0" err="1">
                <a:latin typeface="+mn-lt"/>
              </a:rPr>
              <a:t>Vijayashetty</a:t>
            </a:r>
            <a:r>
              <a:rPr lang="en-GB" sz="1600" b="1" dirty="0">
                <a:latin typeface="+mn-lt"/>
              </a:rPr>
              <a:t> S</a:t>
            </a:r>
          </a:p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defRPr/>
            </a:pPr>
            <a:r>
              <a:rPr lang="en-GB" sz="1600" b="1" dirty="0">
                <a:latin typeface="+mn-lt"/>
              </a:rPr>
              <a:t>Pro</a:t>
            </a:r>
            <a:r>
              <a:rPr lang="en-GB" sz="1600" b="1" dirty="0"/>
              <a:t>fessor and Head of CSE Department</a:t>
            </a:r>
            <a:endParaRPr lang="en-GB" sz="1600" b="1" dirty="0">
              <a:latin typeface="+mn-lt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866756A-2678-4559-4AFD-50C90C83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454662-6C7F-B8FD-0666-F041C4B61E1A}"/>
              </a:ext>
            </a:extLst>
          </p:cNvPr>
          <p:cNvSpPr/>
          <p:nvPr/>
        </p:nvSpPr>
        <p:spPr>
          <a:xfrm>
            <a:off x="532614" y="1244337"/>
            <a:ext cx="11126771" cy="4835361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Background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Research motivation and Problem Statement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Literature Survey and Gap Analysis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Research objectives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800" b="1" dirty="0">
              <a:solidFill>
                <a:schemeClr val="bg2">
                  <a:lumMod val="10000"/>
                </a:schemeClr>
              </a:solidFill>
              <a:latin typeface="Lucida Bright" panose="02040602050505020304" pitchFamily="18" charset="0"/>
            </a:endParaRP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A956D8E-DC9B-5AD5-C56A-623DFF6D0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73088"/>
            <a:ext cx="6121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  <a:cs typeface="Tahoma" panose="020B0604030504040204" pitchFamily="34" charset="0"/>
              </a:rPr>
              <a:t>TABLE OF CONTENS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AAD61A45-E626-50FF-2A90-52237F8F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07EE-49C2-3746-4E9C-EDCA14DF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>
            <a:extLst>
              <a:ext uri="{FF2B5EF4-FFF2-40B4-BE49-F238E27FC236}">
                <a16:creationId xmlns:a16="http://schemas.microsoft.com/office/drawing/2014/main" id="{3056F30B-84DF-B92F-FDDD-D39980596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467458"/>
            <a:ext cx="6121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BACKGROUND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B87BF338-A4BE-D9A9-CF37-19B3CA2F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CC167EC-D85A-78BA-A3B2-922CAC7716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7072" y="1125616"/>
            <a:ext cx="1135929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Crisis: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Lifestyle diseases (Diabetes, CVD) cause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74% of global deaths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creating a massive healthcare burden.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 Delay: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diagnosis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occurring only after symptoms appear and damage is often permanent.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"Snapshot"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One-time clinical tests fail to capture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24/7 behavioral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drive chronic illness.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 Revolution: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now have access to "digital biomarkers" from smartwatches that provide a continuous view of patient health.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Fusion: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critical need exists for AI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bridge the gap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medical history and real-time lifestyle data.</a:t>
            </a:r>
          </a:p>
        </p:txBody>
      </p:sp>
    </p:spTree>
    <p:extLst>
      <p:ext uri="{BB962C8B-B14F-4D97-AF65-F5344CB8AC3E}">
        <p14:creationId xmlns:p14="http://schemas.microsoft.com/office/powerpoint/2010/main" val="371759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8223-731B-95AC-C505-65F2E61F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>
            <a:extLst>
              <a:ext uri="{FF2B5EF4-FFF2-40B4-BE49-F238E27FC236}">
                <a16:creationId xmlns:a16="http://schemas.microsoft.com/office/drawing/2014/main" id="{7F6CE95C-B552-F512-D795-C62EA1AD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299" y="365698"/>
            <a:ext cx="6121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RESEARCH</a:t>
            </a:r>
            <a:r>
              <a:rPr lang="en-US" altLang="en-US" sz="1800" b="1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MOTIVATION</a:t>
            </a:r>
            <a:endParaRPr lang="en-US" altLang="en-US" sz="18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5DC1B9EC-579F-D0DF-8588-86A612CC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70DC38-39A0-30EB-C59E-ABB64BC22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319" y="1060489"/>
            <a:ext cx="1102936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Burden: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Lifestyle diseases account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74% of global deaths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costing the healthcare system billions in long-term treatment.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Research indicates that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80% of heart disease and diabetes cases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preventable through early habit modification.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Goldmine: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over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billion wearable users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globally, we have access to continuous "digital biomarkers" that were never available before.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to Proactive Care: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Moving from "Break-Fix" medicine to "Predict-Prevent" medicine to improve patient longevity.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Technological Maturity: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2026 breakthroughs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Joint Fusion 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finally make it possible to process complex, messy health data accurately.</a:t>
            </a:r>
          </a:p>
        </p:txBody>
      </p:sp>
    </p:spTree>
    <p:extLst>
      <p:ext uri="{BB962C8B-B14F-4D97-AF65-F5344CB8AC3E}">
        <p14:creationId xmlns:p14="http://schemas.microsoft.com/office/powerpoint/2010/main" val="219140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77CB-3452-5489-1338-81C110A1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>
            <a:extLst>
              <a:ext uri="{FF2B5EF4-FFF2-40B4-BE49-F238E27FC236}">
                <a16:creationId xmlns:a16="http://schemas.microsoft.com/office/drawing/2014/main" id="{953E0B47-45B0-5C6E-067F-2AB4D676E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504389"/>
            <a:ext cx="6121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PROBLEM STATEMENT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AC1AFD36-ECFB-5323-ACF0-64321C8D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AY 2025-2026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CFBCFD-20B5-6DE7-FD9D-BCA4AE8317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145" y="1225689"/>
            <a:ext cx="1093509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Diagnosis: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lifestyle diseases are detected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after symptoms appear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when damage may already be serious or permanent.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Health Monitoring: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 checkups usually rely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occasional medical tests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 an annual blood test.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Snapshot-Based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tests provide only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snapshot of a person’s health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continuous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Lifestyle Insights: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Important daily factors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sleep, activity, diet, and stress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the rest of the year are not captured.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Prevention: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 of this limited data, it becomes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predict risks early and take preventive 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46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B95B-7785-C46D-9B3D-22EB4056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>
            <a:extLst>
              <a:ext uri="{FF2B5EF4-FFF2-40B4-BE49-F238E27FC236}">
                <a16:creationId xmlns:a16="http://schemas.microsoft.com/office/drawing/2014/main" id="{1A246386-02D8-9124-0B85-BEF0609D8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431686"/>
            <a:ext cx="6121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LITERATURE SURVEY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127D29BF-4D79-2F33-D6BF-EC95F23C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2E3E6A-966D-8F16-6F2D-0CDED0D1EF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032" y="1016461"/>
            <a:ext cx="111359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Boost: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medical records with wearables increases accuracy by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using only one data source.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Joint Fusion: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 AI now uses "Attention" to focus on the most important health signals from different sources at once.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Biomarkers: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2026 research identifies sleep and heart rate patterns as early "invisible" signs of future disease.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(XAI):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34% of medical AI studies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include "Reasoning" tools like SHAP to win doctor trust.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Precision: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latest attention-based models have reached a record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93.8% accuracy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predicting chronic risks.</a:t>
            </a:r>
          </a:p>
        </p:txBody>
      </p:sp>
    </p:spTree>
    <p:extLst>
      <p:ext uri="{BB962C8B-B14F-4D97-AF65-F5344CB8AC3E}">
        <p14:creationId xmlns:p14="http://schemas.microsoft.com/office/powerpoint/2010/main" val="201658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A46E-810A-5638-382A-5B2A0B1A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We Selected SHAP for Explainable AI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F2D2F9-CFCD-63F8-BA3C-58D2EF03B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5354" y="1690688"/>
            <a:ext cx="1118018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SHapley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Additive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explains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each feature contributes to the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based on game theory, ensuring fair and consistent feature attribution.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 provides both global explanations (model behavior) and local explanations (individual predictions).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doctors understand which lifestyle factors influence disease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to other XAI methods, SHAP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consistent and reliable explanations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9611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703C-D173-C737-8E54-4B11F536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>
            <a:extLst>
              <a:ext uri="{FF2B5EF4-FFF2-40B4-BE49-F238E27FC236}">
                <a16:creationId xmlns:a16="http://schemas.microsoft.com/office/drawing/2014/main" id="{273A03BD-666D-F344-CE17-4C048F125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437158"/>
            <a:ext cx="6121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GAP ANALYSIS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ACE26BFA-E977-5B34-930F-F16283571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177307-7792-B18A-FB03-0423708E96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595" y="1021933"/>
            <a:ext cx="1096337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Silos: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Medical records and smartwatch data are currently kept in separate systems and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"talk" to each other.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"Snapshot"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Yearly doctor visits miss the slow health decline happening in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364 days between check-ups.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Lead-Time: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AI detects diseases you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already have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very few give 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3–6 month early warning.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 models often crash or fail if a user forgets to wear their smartwatch for a day or two.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Logic: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high-accuracy models are "Black Boxes" that don't explain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patient is being flagged as high-risk.</a:t>
            </a:r>
          </a:p>
        </p:txBody>
      </p:sp>
    </p:spTree>
    <p:extLst>
      <p:ext uri="{BB962C8B-B14F-4D97-AF65-F5344CB8AC3E}">
        <p14:creationId xmlns:p14="http://schemas.microsoft.com/office/powerpoint/2010/main" val="372380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DC07-D81D-E80F-6E7F-36BAE9DB8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>
            <a:extLst>
              <a:ext uri="{FF2B5EF4-FFF2-40B4-BE49-F238E27FC236}">
                <a16:creationId xmlns:a16="http://schemas.microsoft.com/office/drawing/2014/main" id="{D5AEC7FC-8228-FDD4-97FC-8FDBE2ADB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393978"/>
            <a:ext cx="6121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latin typeface="Tahoma" panose="020B0604030504040204" pitchFamily="34" charset="0"/>
                <a:cs typeface="Tahoma" panose="020B0604030504040204" pitchFamily="34" charset="0"/>
              </a:rPr>
              <a:t>RESEARCH OBJECTIVES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8730E314-C719-A6A9-9C42-E1030195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D9E716-EB0B-4C0F-A031-2225331782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473" y="906601"/>
            <a:ext cx="1140643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Multimodal Data Fusion: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To develop a unified pipeline that integrates static clinical records (EHR) with high-frequency wearable sensor data.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Temporal Synchronization: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To design an algorithm that aligns sporadic medical test "snapshots" with continuous 24/7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patterns.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Pre-Symptomatic Detection: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To implement a Joint Fusion model capable of identifying "Digital Biomarkers" 3–6 months before clinical symptom onset.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System Robustness: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To utilize Gated Multimodal Units to maintain diagnostic accuracy even when wearable data is noisy or missing.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Clinical Interpretability: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To integrate Explainable AI to provide doctors with the "Top 3" lifestyle factors driving a high-risk alert.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Patient Data Confidentiality: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Anonymization: Removing personal identifiers such as name, address, and contact information.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Encryption: Securing stored data using encryption techniques.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Access Control: Allowing only authorized users to access the system.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Secure Databases: Storing patient data in protected and restricted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761068047"/>
      </p:ext>
    </p:extLst>
  </p:cSld>
  <p:clrMapOvr>
    <a:masterClrMapping/>
  </p:clrMapOvr>
</p:sld>
</file>

<file path=ppt/theme/theme1.xml><?xml version="1.0" encoding="utf-8"?>
<a:theme xmlns:a="http://schemas.openxmlformats.org/drawingml/2006/main" name="nitte deemed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itte deemed theme" id="{360E6621-5E3E-4414-80FA-CFEC471C70B1}" vid="{414D16CA-093A-4723-874C-ABD6118A88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nitte deemed theme</Template>
  <TotalTime>283</TotalTime>
  <Words>883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ADLaM Display</vt:lpstr>
      <vt:lpstr>Aptos Black</vt:lpstr>
      <vt:lpstr>Arial</vt:lpstr>
      <vt:lpstr>Calibri</vt:lpstr>
      <vt:lpstr>Calibri Light</vt:lpstr>
      <vt:lpstr>Cambria</vt:lpstr>
      <vt:lpstr>Lucida Bright</vt:lpstr>
      <vt:lpstr>Tahoma</vt:lpstr>
      <vt:lpstr>Wingdings</vt:lpstr>
      <vt:lpstr>nitte deemed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We Selected SHAP for Explainable AI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SHOBHA P</dc:creator>
  <cp:lastModifiedBy>roma narayan</cp:lastModifiedBy>
  <cp:revision>20</cp:revision>
  <dcterms:created xsi:type="dcterms:W3CDTF">2025-05-10T10:17:47Z</dcterms:created>
  <dcterms:modified xsi:type="dcterms:W3CDTF">2026-03-09T15:49:27Z</dcterms:modified>
</cp:coreProperties>
</file>